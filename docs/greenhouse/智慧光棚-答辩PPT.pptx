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4C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6000" b="1">
                <a:solidFill>
                  <a:srgbClr val="FFFFFF"/>
                </a:solidFill>
                <a:latin typeface="微软雅黑"/>
              </a:rPr>
              <a:t>智慧光棚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>
                <a:solidFill>
                  <a:srgbClr val="CFE0D4"/>
                </a:solidFill>
                <a:latin typeface="微软雅黑"/>
              </a:rPr>
              <a:t>设施农业光环境闭环管控平台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CFE0D4"/>
                </a:solidFill>
                <a:latin typeface="微软雅黑"/>
              </a:rPr>
              <a:t>测光 → 配方比对 → 补光/遮阳联动 → 农艺审批工单可审计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9AB5A3"/>
                </a:solidFill>
                <a:latin typeface="微软雅黑"/>
              </a:rPr>
              <a:t>答辩人：XXX · 2026-08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1E3A2E"/>
                </a:solidFill>
                <a:latin typeface="微软雅黑"/>
              </a:rPr>
              <a:t>背景与痛点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D72"/>
                </a:solidFill>
                <a:latin typeface="微软雅黑"/>
              </a:rPr>
              <a:t>为什么需要一套光环境管控平台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01168" cy="457200"/>
          </a:xfrm>
          <a:prstGeom prst="rect">
            <a:avLst/>
          </a:prstGeom>
          <a:solidFill>
            <a:srgbClr val="4C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4416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E3A2E"/>
                </a:solidFill>
                <a:latin typeface="微软雅黑"/>
              </a:rPr>
              <a:t>重庆寡照：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556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7D72"/>
                </a:solidFill>
                <a:latin typeface="微软雅黑"/>
              </a:rPr>
              <a:t>年均日照时数全国偏低、冬春多雾，设施作物易长期欠光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78608"/>
            <a:ext cx="201168" cy="457200"/>
          </a:xfrm>
          <a:prstGeom prst="rect">
            <a:avLst/>
          </a:prstGeom>
          <a:solidFill>
            <a:srgbClr val="4C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51176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E3A2E"/>
                </a:solidFill>
                <a:latin typeface="微软雅黑"/>
              </a:rPr>
              <a:t>人工凭经验：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62656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7D72"/>
                </a:solidFill>
                <a:latin typeface="微软雅黑"/>
              </a:rPr>
              <a:t>补光/遮阳靠人看天操作，动作滞后、难以复现、无法追责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785616"/>
            <a:ext cx="201168" cy="457200"/>
          </a:xfrm>
          <a:prstGeom prst="rect">
            <a:avLst/>
          </a:prstGeom>
          <a:solidFill>
            <a:srgbClr val="4C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758184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E3A2E"/>
                </a:solidFill>
                <a:latin typeface="微软雅黑"/>
              </a:rPr>
              <a:t>光配方缺位：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16966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7D72"/>
                </a:solidFill>
                <a:latin typeface="微软雅黑"/>
              </a:rPr>
              <a:t>作物不同阶段需要不同 PPFD / DLI，缺乏量化目标带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992624"/>
            <a:ext cx="201168" cy="457200"/>
          </a:xfrm>
          <a:prstGeom prst="rect">
            <a:avLst/>
          </a:prstGeom>
          <a:solidFill>
            <a:srgbClr val="4C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965192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E3A2E"/>
                </a:solidFill>
                <a:latin typeface="微软雅黑"/>
              </a:rPr>
              <a:t>失控风险：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37667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7D72"/>
                </a:solidFill>
                <a:latin typeface="微软雅黑"/>
              </a:rPr>
              <a:t>夏季强光暴晒、光抑制灼苗；大开度误操作缺审批保护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AAAAA"/>
                </a:solidFill>
                <a:latin typeface="微软雅黑"/>
              </a:rPr>
              <a:t>智慧光棚 · 设施农业光环境闭环管控平台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1E3A2E"/>
                </a:solidFill>
                <a:latin typeface="微软雅黑"/>
              </a:rPr>
              <a:t>产品定位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D72"/>
                </a:solidFill>
                <a:latin typeface="微软雅黑"/>
              </a:rPr>
              <a:t>面向设施栽培的光环境闭环管控平台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2606040" cy="2651760"/>
          </a:xfrm>
          <a:prstGeom prst="rect">
            <a:avLst/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2606040" cy="640080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主场景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2331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E3A2E"/>
                </a:solidFill>
                <a:latin typeface="微软雅黑"/>
              </a:rPr>
              <a:t>重庆近郊单跨拱棚
16×7 m · 南向采光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645920"/>
            <a:ext cx="2606040" cy="2651760"/>
          </a:xfrm>
          <a:prstGeom prst="rect">
            <a:avLst/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645920"/>
            <a:ext cx="2606040" cy="640080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73736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主作物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468880"/>
            <a:ext cx="2331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E3A2E"/>
                </a:solidFill>
                <a:latin typeface="微软雅黑"/>
              </a:rPr>
              <a:t>铁皮石斛
组培 / 栽培分阶段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645920"/>
            <a:ext cx="2606040" cy="2651760"/>
          </a:xfrm>
          <a:prstGeom prst="rect">
            <a:avLst/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645920"/>
            <a:ext cx="2606040" cy="640080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73736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辅作物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468880"/>
            <a:ext cx="2331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E3A2E"/>
                </a:solidFill>
                <a:latin typeface="微软雅黑"/>
              </a:rPr>
              <a:t>设施草莓 · 金线莲
配方一键切换对比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645920"/>
            <a:ext cx="2606040" cy="2651760"/>
          </a:xfrm>
          <a:prstGeom prst="rect">
            <a:avLst/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645920"/>
            <a:ext cx="2606040" cy="640080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73736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差异化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468880"/>
            <a:ext cx="2331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E3A2E"/>
                </a:solidFill>
                <a:latin typeface="微软雅黑"/>
              </a:rPr>
              <a:t>空间光场 3D · 重庆日型仿真
分床调光 · 审批≠执行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F5D4A"/>
                </a:solidFill>
                <a:latin typeface="微软雅黑"/>
              </a:rPr>
              <a:t>一句话：面向设施栽培的光环境闭环 —— 测光、比对、联动、审批、审计。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AAAAA"/>
                </a:solidFill>
                <a:latin typeface="微软雅黑"/>
              </a:rPr>
              <a:t>智慧光棚 · 设施农业光环境闭环管控平台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1E3A2E"/>
                </a:solidFill>
                <a:latin typeface="微软雅黑"/>
              </a:rPr>
              <a:t>核心业务闭环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D72"/>
                </a:solidFill>
                <a:latin typeface="微软雅黑"/>
              </a:rPr>
              <a:t>测光 → 配方比对 → 补光/遮阳 → 工单审计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2377440" cy="2011680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23774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① 测光
PAR 测点 + MQTT
遥测 5s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44368" y="228600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4C8A6B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554480"/>
            <a:ext cx="2377440" cy="2011680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783080"/>
            <a:ext cx="23774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② 配方比对
目标带 / 硬限
区有效 PPFD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4728" y="228600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4C8A6B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2377440" cy="2011680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783080"/>
            <a:ext cx="23774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③ 调控联动
欠光补光
过光遮阳优先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228600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4C8A6B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9720" y="1554480"/>
            <a:ext cx="2377440" cy="2011680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783080"/>
            <a:ext cx="23774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④ 工单审计
大开度≥80 审批
approve≠execute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023360"/>
            <a:ext cx="11064240" cy="1737360"/>
          </a:xfrm>
          <a:prstGeom prst="rect">
            <a:avLst/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976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E3A2E"/>
                </a:solidFill>
                <a:latin typeface="微软雅黑"/>
              </a:rPr>
              <a:t>小步动作 AUTO 直接下发；</a:t>
            </a:r>
          </a:p>
          <a:p>
            <a:pPr algn="l">
              <a:lnSpc>
                <a:spcPct val="120000"/>
              </a:lnSpc>
            </a:pPr>
            <a:r>
              <a:rPr sz="1600" b="0">
                <a:solidFill>
                  <a:srgbClr val="1E3A2E"/>
                </a:solidFill>
                <a:latin typeface="微软雅黑"/>
              </a:rPr>
              <a:t>大步动作（调光/遮阳 ≥ 80%）→ 生成 PENDING 工单 → 农艺师批准 → 种植员接单执行 → 控制日志与状态机全程可审计，避免误操作。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AAAAA"/>
                </a:solidFill>
                <a:latin typeface="微软雅黑"/>
              </a:rPr>
              <a:t>智慧光棚 · 设施农业光环境闭环管控平台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1E3A2E"/>
                </a:solidFill>
                <a:latin typeface="微软雅黑"/>
              </a:rPr>
              <a:t>作物光配方体系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D72"/>
                </a:solidFill>
                <a:latin typeface="微软雅黑"/>
              </a:rPr>
              <a:t>量化目标带 · 按需切换 · 解耦绑定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72800" cy="502920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9344"/>
            <a:ext cx="176479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配方 / 阶段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2031" y="1609344"/>
            <a:ext cx="176479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硬限下限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98262" y="1609344"/>
            <a:ext cx="176479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目标带 PPFD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4493" y="1609344"/>
            <a:ext cx="176479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硬限上限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0724" y="1609344"/>
            <a:ext cx="176479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DLI 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55" y="1609344"/>
            <a:ext cx="176479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光周期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103120"/>
            <a:ext cx="10972800" cy="475488"/>
          </a:xfrm>
          <a:prstGeom prst="rect">
            <a:avLst/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157984"/>
            <a:ext cx="176479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1E3A2E"/>
                </a:solidFill>
                <a:latin typeface="微软雅黑"/>
              </a:rPr>
              <a:t>铁皮石斛（组培）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1" y="2157984"/>
            <a:ext cx="176479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1E3A2E"/>
                </a:solidFill>
                <a:latin typeface="微软雅黑"/>
              </a:rPr>
              <a:t>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8262" y="2157984"/>
            <a:ext cx="176479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2F5D4A"/>
                </a:solidFill>
                <a:latin typeface="微软雅黑"/>
              </a:rPr>
              <a:t>60–70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3" y="2157984"/>
            <a:ext cx="176479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1E3A2E"/>
                </a:solidFill>
                <a:latin typeface="微软雅黑"/>
              </a:rPr>
              <a:t>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0724" y="2157984"/>
            <a:ext cx="176479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3A2E"/>
                </a:solidFill>
                <a:latin typeface="微软雅黑"/>
              </a:rPr>
              <a:t>2.16–3.02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55" y="2157984"/>
            <a:ext cx="176479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1E3A2E"/>
                </a:solidFill>
                <a:latin typeface="微软雅黑"/>
              </a:rPr>
              <a:t>12h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606040"/>
            <a:ext cx="109728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660904"/>
            <a:ext cx="176479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1E3A2E"/>
                </a:solidFill>
                <a:latin typeface="微软雅黑"/>
              </a:rPr>
              <a:t>铁皮石斛（栽培）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2031" y="2660904"/>
            <a:ext cx="176479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1E3A2E"/>
                </a:solidFill>
                <a:latin typeface="微软雅黑"/>
              </a:rPr>
              <a:t>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2" y="2660904"/>
            <a:ext cx="176479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2F5D4A"/>
                </a:solidFill>
                <a:latin typeface="微软雅黑"/>
              </a:rPr>
              <a:t>90–120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4493" y="2660904"/>
            <a:ext cx="176479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1E3A2E"/>
                </a:solidFill>
                <a:latin typeface="微软雅黑"/>
              </a:rPr>
              <a:t>140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0724" y="2660904"/>
            <a:ext cx="176479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3A2E"/>
                </a:solidFill>
                <a:latin typeface="微软雅黑"/>
              </a:rPr>
              <a:t>3.89–5.18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55" y="2660904"/>
            <a:ext cx="176479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1E3A2E"/>
                </a:solidFill>
                <a:latin typeface="微软雅黑"/>
              </a:rPr>
              <a:t>12h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108960"/>
            <a:ext cx="10972800" cy="475488"/>
          </a:xfrm>
          <a:prstGeom prst="rect">
            <a:avLst/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163824"/>
            <a:ext cx="176479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1E3A2E"/>
                </a:solidFill>
                <a:latin typeface="微软雅黑"/>
              </a:rPr>
              <a:t>设施草莓（冬春）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42031" y="3163824"/>
            <a:ext cx="176479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1E3A2E"/>
                </a:solidFill>
                <a:latin typeface="微软雅黑"/>
              </a:rPr>
              <a:t>150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8262" y="3163824"/>
            <a:ext cx="176479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2F5D4A"/>
                </a:solidFill>
                <a:latin typeface="微软雅黑"/>
              </a:rPr>
              <a:t>250–400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4493" y="3163824"/>
            <a:ext cx="176479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1E3A2E"/>
                </a:solidFill>
                <a:latin typeface="微软雅黑"/>
              </a:rPr>
              <a:t>550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0724" y="3163824"/>
            <a:ext cx="176479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3A2E"/>
                </a:solidFill>
                <a:latin typeface="微软雅黑"/>
              </a:rPr>
              <a:t>17–25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55" y="3163824"/>
            <a:ext cx="176479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1E3A2E"/>
                </a:solidFill>
                <a:latin typeface="微软雅黑"/>
              </a:rPr>
              <a:t>12h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3611880"/>
            <a:ext cx="109728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3666744"/>
            <a:ext cx="176479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1E3A2E"/>
                </a:solidFill>
                <a:latin typeface="微软雅黑"/>
              </a:rPr>
              <a:t>台湾金线莲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2031" y="3666744"/>
            <a:ext cx="176479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1E3A2E"/>
                </a:solidFill>
                <a:latin typeface="微软雅黑"/>
              </a:rPr>
              <a:t>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98262" y="3666744"/>
            <a:ext cx="176479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2F5D4A"/>
                </a:solidFill>
                <a:latin typeface="微软雅黑"/>
              </a:rPr>
              <a:t>25–35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54493" y="3666744"/>
            <a:ext cx="176479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1E3A2E"/>
                </a:solidFill>
                <a:latin typeface="微软雅黑"/>
              </a:rPr>
              <a:t>55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10724" y="3666744"/>
            <a:ext cx="176479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3A2E"/>
                </a:solidFill>
                <a:latin typeface="微软雅黑"/>
              </a:rPr>
              <a:t>1.26–1.76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55" y="3666744"/>
            <a:ext cx="176479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1E3A2E"/>
                </a:solidFill>
                <a:latin typeface="微软雅黑"/>
              </a:rPr>
              <a:t>14h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75488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7D72"/>
                </a:solidFill>
                <a:latin typeface="微软雅黑"/>
              </a:rPr>
              <a:t>切换作物/阶段 = 改绑定 recipeId，无需改代码；DLI ≈ PPFD × 光周期(h) × 0.0036。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AAAAA"/>
                </a:solidFill>
                <a:latin typeface="微软雅黑"/>
              </a:rPr>
              <a:t>智慧光棚 · 设施农业光环境闭环管控平台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1E3A2E"/>
                </a:solidFill>
                <a:latin typeface="微软雅黑"/>
              </a:rPr>
              <a:t>空间光场与重庆日型仿真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D72"/>
                </a:solidFill>
                <a:latin typeface="微软雅黑"/>
              </a:rPr>
              <a:t>3D 棚体 + 冠层热力 + 一天压缩 120s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01168" cy="457200"/>
          </a:xfrm>
          <a:prstGeom prst="rect">
            <a:avLst/>
          </a:prstGeom>
          <a:solidFill>
            <a:srgbClr val="4C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3560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E3A2E"/>
                </a:solidFill>
                <a:latin typeface="微软雅黑"/>
              </a:rPr>
              <a:t>空间光场 3D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745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7D72"/>
                </a:solidFill>
                <a:latin typeface="微软雅黑"/>
              </a:rPr>
              <a:t>Three.js 3D 棚架 + 灯位 + 冠层 PPFD 热力切片，非 2D 色块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201168" cy="457200"/>
          </a:xfrm>
          <a:prstGeom prst="rect">
            <a:avLst/>
          </a:prstGeom>
          <a:solidFill>
            <a:srgbClr val="4C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2432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E3A2E"/>
                </a:solidFill>
                <a:latin typeface="微软雅黑"/>
              </a:rPr>
              <a:t>重庆日型仿真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7D72"/>
                </a:solidFill>
                <a:latin typeface="微软雅黑"/>
              </a:rPr>
              <a:t>冬雾 / 夏正午两套日型，演示日压缩至约 2 分钟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840480"/>
            <a:ext cx="201168" cy="457200"/>
          </a:xfrm>
          <a:prstGeom prst="rect">
            <a:avLst/>
          </a:prstGeom>
          <a:solidFill>
            <a:srgbClr val="4C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81304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E3A2E"/>
                </a:solidFill>
                <a:latin typeface="微软雅黑"/>
              </a:rPr>
              <a:t>分床控光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7D72"/>
                </a:solidFill>
                <a:latin typeface="微软雅黑"/>
              </a:rPr>
              <a:t>ZONE-A 石斛 / ZONE-B 金线莲分床独立目标带，互不干扰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029200"/>
            <a:ext cx="201168" cy="457200"/>
          </a:xfrm>
          <a:prstGeom prst="rect">
            <a:avLst/>
          </a:prstGeom>
          <a:solidFill>
            <a:srgbClr val="4C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00176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E3A2E"/>
                </a:solidFill>
                <a:latin typeface="微软雅黑"/>
              </a:rPr>
              <a:t>曲线与光谱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4406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7D72"/>
                </a:solidFill>
                <a:latin typeface="微软雅黑"/>
              </a:rPr>
              <a:t>全日光照/温湿度曲线，三色光谱通道，配方切换即时更新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AAAAA"/>
                </a:solidFill>
                <a:latin typeface="微软雅黑"/>
              </a:rPr>
              <a:t>智慧光棚 · 设施农业光环境闭环管控平台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1E3A2E"/>
                </a:solidFill>
                <a:latin typeface="微软雅黑"/>
              </a:rPr>
              <a:t>角色分权与工单审计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D72"/>
                </a:solidFill>
                <a:latin typeface="微软雅黑"/>
              </a:rPr>
              <a:t>六角色 RBAC · 审批≠执行 · 全流程可追溯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737360" cy="1463040"/>
          </a:xfrm>
          <a:prstGeom prst="rect">
            <a:avLst/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737360" cy="502920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场长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1E3A2E"/>
                </a:solidFill>
                <a:latin typeface="微软雅黑"/>
              </a:rPr>
              <a:t>策略启停 · 总览 · AUTO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68" y="1554480"/>
            <a:ext cx="1737360" cy="1463040"/>
          </a:xfrm>
          <a:prstGeom prst="rect">
            <a:avLst/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87168" y="1554480"/>
            <a:ext cx="1737360" cy="502920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1627632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农艺师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219456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1E3A2E"/>
                </a:solidFill>
                <a:latin typeface="微软雅黑"/>
              </a:rPr>
              <a:t>配方 CRUD · 工单审批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4256" y="1554480"/>
            <a:ext cx="1737360" cy="1463040"/>
          </a:xfrm>
          <a:prstGeom prst="rect">
            <a:avLst/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1554480"/>
            <a:ext cx="1737360" cy="502920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4256" y="1627632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种植员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219456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1E3A2E"/>
                </a:solidFill>
                <a:latin typeface="微软雅黑"/>
              </a:rPr>
              <a:t>接单执行 · 现场回填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1344" y="1554480"/>
            <a:ext cx="1737360" cy="1463040"/>
          </a:xfrm>
          <a:prstGeom prst="rect">
            <a:avLst/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1554480"/>
            <a:ext cx="1737360" cy="502920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1344" y="1627632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设备运维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219456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1E3A2E"/>
                </a:solidFill>
                <a:latin typeface="微软雅黑"/>
              </a:rPr>
              <a:t>设备档案 · 标定调试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28432" y="1554480"/>
            <a:ext cx="1737360" cy="1463040"/>
          </a:xfrm>
          <a:prstGeom prst="rect">
            <a:avLst/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28432" y="1554480"/>
            <a:ext cx="1737360" cy="502920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2" y="1627632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学员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9872" y="219456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1E3A2E"/>
                </a:solidFill>
                <a:latin typeface="微软雅黑"/>
              </a:rPr>
              <a:t>只读沙箱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20" y="1554480"/>
            <a:ext cx="1737360" cy="1463040"/>
          </a:xfrm>
          <a:prstGeom prst="rect">
            <a:avLst/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875520" y="1554480"/>
            <a:ext cx="1737360" cy="502920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1627632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系统管理员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19456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1E3A2E"/>
                </a:solidFill>
                <a:latin typeface="微软雅黑"/>
              </a:rPr>
              <a:t>账号与系统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383280"/>
            <a:ext cx="10881360" cy="2377440"/>
          </a:xfrm>
          <a:prstGeom prst="rect">
            <a:avLst/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566160"/>
            <a:ext cx="103327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E3A2E"/>
                </a:solidFill>
                <a:latin typeface="微软雅黑"/>
              </a:rPr>
              <a:t>工单状态机：</a:t>
            </a:r>
          </a:p>
          <a:p>
            <a:pPr algn="l">
              <a:lnSpc>
                <a:spcPct val="120000"/>
              </a:lnSpc>
            </a:pPr>
            <a:r>
              <a:rPr sz="1700" b="0">
                <a:solidFill>
                  <a:srgbClr val="2F5D4A"/>
                </a:solidFill>
                <a:latin typeface="微软雅黑"/>
              </a:rPr>
              <a:t>PENDING → APPROVED → EXECUTING → DONE ／ REJECTED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6B7D72"/>
                </a:solidFill>
                <a:latin typeface="微软雅黑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3A2E"/>
                </a:solidFill>
                <a:latin typeface="微软雅黑"/>
              </a:rPr>
              <a:t>安全边界：农艺师 approve 仅审批；真正下发发生在种植员执行阶段（source=WORK_ORDER）。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3A2E"/>
                </a:solidFill>
                <a:latin typeface="微软雅黑"/>
              </a:rPr>
              <a:t>越权调用 403 · 控制日志不可物理删除 · 种植员无配方硬限写权限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AAAAA"/>
                </a:solidFill>
                <a:latin typeface="微软雅黑"/>
              </a:rPr>
              <a:t>智慧光棚 · 设施农业光环境闭环管控平台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1E3A2E"/>
                </a:solidFill>
                <a:latin typeface="微软雅黑"/>
              </a:rPr>
              <a:t>功能架构图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D72"/>
                </a:solidFill>
                <a:latin typeface="微软雅黑"/>
              </a:rPr>
              <a:t>四层：呈现 → 应用 → 数据 → 接入</a:t>
            </a:r>
          </a:p>
        </p:txBody>
      </p:sp>
      <p:pic>
        <p:nvPicPr>
          <p:cNvPr id="5" name="Picture 4" descr="functional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88136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AAAAA"/>
                </a:solidFill>
                <a:latin typeface="微软雅黑"/>
              </a:rPr>
              <a:t>智慧光棚 · 设施农业光环境闭环管控平台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1E3A2E"/>
                </a:solidFill>
                <a:latin typeface="微软雅黑"/>
              </a:rPr>
              <a:t>技术架构图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D72"/>
                </a:solidFill>
                <a:latin typeface="微软雅黑"/>
              </a:rPr>
              <a:t>Vue3 + Spring Boot + PostgreSQL(pgvector) + EMQX</a:t>
            </a:r>
          </a:p>
        </p:txBody>
      </p:sp>
      <p:pic>
        <p:nvPicPr>
          <p:cNvPr id="5" name="Picture 4" descr="technical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88136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AAAAA"/>
                </a:solidFill>
                <a:latin typeface="微软雅黑"/>
              </a:rPr>
              <a:t>智慧光棚 · 设施农业光环境闭环管控平台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1E3A2E"/>
                </a:solidFill>
                <a:latin typeface="微软雅黑"/>
              </a:rPr>
              <a:t>核心模块与实现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D72"/>
                </a:solidFill>
                <a:latin typeface="微软雅黑"/>
              </a:rPr>
              <a:t>后端 Java 21 / Spring Boot 3.5.9 · 前端 Vue3 / Vite 8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011680" cy="685800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后端 · gh 域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463040"/>
            <a:ext cx="8778240" cy="685800"/>
          </a:xfrm>
          <a:prstGeom prst="rect">
            <a:avLst/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554480"/>
            <a:ext cx="8412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3A2E"/>
                </a:solidFill>
                <a:latin typeface="微软雅黑"/>
              </a:rPr>
              <a:t>配方引擎 · 控光规则 · 工单状态机 · 重庆日型仿真 · MQTT 上下行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2011680" cy="685800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41448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前端 · 冠层光场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2331720"/>
            <a:ext cx="8778240" cy="685800"/>
          </a:xfrm>
          <a:prstGeom prst="rect">
            <a:avLst/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2423160"/>
            <a:ext cx="8412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3A2E"/>
                </a:solidFill>
                <a:latin typeface="微软雅黑"/>
              </a:rPr>
              <a:t>Three.js 3D · ECharts 曲线 · STOMP 实时 · RBAC 显隐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00400"/>
            <a:ext cx="2011680" cy="685800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310128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数据 · PostgreSQL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3200400"/>
            <a:ext cx="8778240" cy="685800"/>
          </a:xfrm>
          <a:prstGeom prst="rect">
            <a:avLst/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3291840"/>
            <a:ext cx="8412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3A2E"/>
                </a:solidFill>
                <a:latin typeface="微软雅黑"/>
              </a:rPr>
              <a:t>gh_zones / gh_recipes / gh_work_orders / 控制日志 + RAG 向量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069080"/>
            <a:ext cx="2011680" cy="685800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78808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接入 · EMQX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4069080"/>
            <a:ext cx="8778240" cy="685800"/>
          </a:xfrm>
          <a:prstGeom prst="rect">
            <a:avLst/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4160520"/>
            <a:ext cx="8412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3A2E"/>
                </a:solidFill>
                <a:latin typeface="微软雅黑"/>
              </a:rPr>
              <a:t>smart-greenhouse/{sn}/telemetry|status|command 契约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937760"/>
            <a:ext cx="2011680" cy="685800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047488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农艺助手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4937760"/>
            <a:ext cx="8778240" cy="685800"/>
          </a:xfrm>
          <a:prstGeom prst="rect">
            <a:avLst/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5029200"/>
            <a:ext cx="8412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3A2E"/>
                </a:solidFill>
                <a:latin typeface="微软雅黑"/>
              </a:rPr>
              <a:t>悬浮问答 · 27 条知识库 + RAG 检索 · 只读建议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AAAAA"/>
                </a:solidFill>
                <a:latin typeface="微软雅黑"/>
              </a:rPr>
              <a:t>智慧光棚 · 设施农业光环境闭环管控平台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1E3A2E"/>
                </a:solidFill>
                <a:latin typeface="微软雅黑"/>
              </a:rPr>
              <a:t>3 分钟演示要点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D72"/>
                </a:solidFill>
                <a:latin typeface="微软雅黑"/>
              </a:rPr>
              <a:t>主叙事：铁皮石斛 · 光环境闭环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17904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81328"/>
            <a:ext cx="9875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E3A2E"/>
                </a:solidFill>
                <a:latin typeface="微软雅黑"/>
              </a:rPr>
              <a:t>① 登录（admin / admin123），进入冠层光场，PPFD 曲线实时推进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457200" cy="457200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86584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50008"/>
            <a:ext cx="9875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E3A2E"/>
                </a:solidFill>
                <a:latin typeface="微软雅黑"/>
              </a:rPr>
              <a:t>② 展示重庆日型仿真：冬雾寡照 → 自动补光；正午强光 → 遮阳优先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55264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18688"/>
            <a:ext cx="9875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E3A2E"/>
                </a:solidFill>
                <a:latin typeface="微软雅黑"/>
              </a:rPr>
              <a:t>③ 切换金线莲配方，目标带变为 25–35，无需改代码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23944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087368"/>
            <a:ext cx="9875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E3A2E"/>
                </a:solidFill>
                <a:latin typeface="微软雅黑"/>
              </a:rPr>
              <a:t>④ 制造大开度变更 → 生成 PENDING 工单 → 农艺批准 → 种植员执行 → 日志可查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937760"/>
            <a:ext cx="457200" cy="457200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992624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956048"/>
            <a:ext cx="9875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E3A2E"/>
                </a:solidFill>
                <a:latin typeface="微软雅黑"/>
              </a:rPr>
              <a:t>⑤ 角色切换：不同账号看到不同导航与按钮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AAAAA"/>
                </a:solidFill>
                <a:latin typeface="微软雅黑"/>
              </a:rPr>
              <a:t>智慧光棚 · 设施农业光环境闭环管控平台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1E3A2E"/>
                </a:solidFill>
                <a:latin typeface="微软雅黑"/>
              </a:rPr>
              <a:t>部署与验收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D72"/>
                </a:solidFill>
                <a:latin typeface="微软雅黑"/>
              </a:rPr>
              <a:t>从零到跑通 · 部署文档 DEPLOY.md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084831" cy="1371600"/>
          </a:xfrm>
          <a:prstGeom prst="rect">
            <a:avLst/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901951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3A2E"/>
                </a:solidFill>
                <a:latin typeface="微软雅黑"/>
              </a:rPr>
              <a:t>WSL2 + Docker
PG :5433 / EMQX :1883</a:t>
            </a:r>
          </a:p>
        </p:txBody>
      </p:sp>
      <p:sp>
        <p:nvSpPr>
          <p:cNvPr id="7" name="Rectangle 6"/>
          <p:cNvSpPr/>
          <p:nvPr/>
        </p:nvSpPr>
        <p:spPr>
          <a:xfrm>
            <a:off x="2670047" y="1554480"/>
            <a:ext cx="2084831" cy="1371600"/>
          </a:xfrm>
          <a:prstGeom prst="rect">
            <a:avLst/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61487" y="1691640"/>
            <a:ext cx="1901951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3A2E"/>
                </a:solidFill>
                <a:latin typeface="微软雅黑"/>
              </a:rPr>
              <a:t>git clone +
application-secret.yml</a:t>
            </a:r>
          </a:p>
        </p:txBody>
      </p:sp>
      <p:sp>
        <p:nvSpPr>
          <p:cNvPr id="9" name="Rectangle 8"/>
          <p:cNvSpPr/>
          <p:nvPr/>
        </p:nvSpPr>
        <p:spPr>
          <a:xfrm>
            <a:off x="4882894" y="1554480"/>
            <a:ext cx="2084831" cy="1371600"/>
          </a:xfrm>
          <a:prstGeom prst="rect">
            <a:avLst/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74334" y="1691640"/>
            <a:ext cx="1901951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3A2E"/>
                </a:solidFill>
                <a:latin typeface="微软雅黑"/>
              </a:rPr>
              <a:t>init-db.ps1
16 个 SQL 迁移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95741" y="1554480"/>
            <a:ext cx="2084831" cy="1371600"/>
          </a:xfrm>
          <a:prstGeom prst="rect">
            <a:avLst/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87181" y="1691640"/>
            <a:ext cx="1901951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3A2E"/>
                </a:solidFill>
                <a:latin typeface="微软雅黑"/>
              </a:rPr>
              <a:t>后端编译启动
Java 21 :8080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08588" y="1554480"/>
            <a:ext cx="2084831" cy="1371600"/>
          </a:xfrm>
          <a:prstGeom prst="rect">
            <a:avLst/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00028" y="1691640"/>
            <a:ext cx="1901951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3A2E"/>
                </a:solidFill>
                <a:latin typeface="微软雅黑"/>
              </a:rPr>
              <a:t>前端 npm run build
web/dist :5173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83280"/>
            <a:ext cx="11064240" cy="2103120"/>
          </a:xfrm>
          <a:prstGeom prst="rect">
            <a:avLst/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56616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E3A2E"/>
                </a:solidFill>
                <a:latin typeface="微软雅黑"/>
              </a:rPr>
              <a:t>验收清单（DEPLOY §8）：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3A2E"/>
                </a:solidFill>
                <a:latin typeface="微软雅黑"/>
              </a:rPr>
              <a:t>Docker 两容器健康 · gh_* 表就绪 · 登录 200 · 分区接口 2 区 · 冠层 PPFD 推进 · 工单闭环 · EMQX 控制台可登录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6B7D72"/>
                </a:solidFill>
                <a:latin typeface="微软雅黑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D72"/>
                </a:solidFill>
                <a:latin typeface="微软雅黑"/>
              </a:rPr>
              <a:t>关键排障：WSL 未装→Docker 500 · .env.local 带 BOM→mock 失效 · 端口占用 · 指令超时告警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AAAAA"/>
                </a:solidFill>
                <a:latin typeface="微软雅黑"/>
              </a:rPr>
              <a:t>智慧光棚 · 设施农业光环境闭环管控平台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1E3A2E"/>
                </a:solidFill>
                <a:latin typeface="微软雅黑"/>
              </a:rPr>
              <a:t>团队分工（6 人）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D72"/>
                </a:solidFill>
                <a:latin typeface="微软雅黑"/>
              </a:rPr>
              <a:t>双轨协作 · RACI 对齐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3566160" cy="1097280"/>
          </a:xfrm>
          <a:prstGeom prst="rect">
            <a:avLst/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28016" cy="1097280"/>
          </a:xfrm>
          <a:prstGeom prst="rect">
            <a:avLst/>
          </a:prstGeom>
          <a:solidFill>
            <a:srgbClr val="4C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E3A2E"/>
                </a:solidFill>
                <a:latin typeface="微软雅黑"/>
              </a:rPr>
              <a:t>组长 · 后端控光与仿真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7D72"/>
                </a:solidFill>
                <a:latin typeface="微软雅黑"/>
              </a:rPr>
              <a:t>光场仿真 · 控光规则 · 工单门控 · MQTT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554480"/>
            <a:ext cx="3566160" cy="1097280"/>
          </a:xfrm>
          <a:prstGeom prst="rect">
            <a:avLst/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554480"/>
            <a:ext cx="128016" cy="1097280"/>
          </a:xfrm>
          <a:prstGeom prst="rect">
            <a:avLst/>
          </a:prstGeom>
          <a:solidFill>
            <a:srgbClr val="4C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6420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E3A2E"/>
                </a:solidFill>
                <a:latin typeface="微软雅黑"/>
              </a:rPr>
              <a:t>前端 · 冠层与总览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0312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7D72"/>
                </a:solidFill>
                <a:latin typeface="微软雅黑"/>
              </a:rPr>
              <a:t>3D 光场 · 总览 · 控光交互 · 农艺助手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3566160" cy="1097280"/>
          </a:xfrm>
          <a:prstGeom prst="rect">
            <a:avLst/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788920"/>
            <a:ext cx="128016" cy="1097280"/>
          </a:xfrm>
          <a:prstGeom prst="rect">
            <a:avLst/>
          </a:prstGeom>
          <a:solidFill>
            <a:srgbClr val="4C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89864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E3A2E"/>
                </a:solidFill>
                <a:latin typeface="微软雅黑"/>
              </a:rPr>
              <a:t>数据库与数据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375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7D72"/>
                </a:solidFill>
                <a:latin typeface="微软雅黑"/>
              </a:rPr>
              <a:t>gh_* 结构 · 配方种子 · 迁移 · 数据库文件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2788920"/>
            <a:ext cx="3566160" cy="1097280"/>
          </a:xfrm>
          <a:prstGeom prst="rect">
            <a:avLst/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2788920"/>
            <a:ext cx="128016" cy="1097280"/>
          </a:xfrm>
          <a:prstGeom prst="rect">
            <a:avLst/>
          </a:prstGeom>
          <a:solidFill>
            <a:srgbClr val="4C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289864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E3A2E"/>
                </a:solidFill>
                <a:latin typeface="微软雅黑"/>
              </a:rPr>
              <a:t>角色权限与协同页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3375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7D72"/>
                </a:solidFill>
                <a:latin typeface="微软雅黑"/>
              </a:rPr>
              <a:t>六角色 RBAC · 导航显隐 · 申请/联系/报告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23360"/>
            <a:ext cx="3566160" cy="1097280"/>
          </a:xfrm>
          <a:prstGeom prst="rect">
            <a:avLst/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023360"/>
            <a:ext cx="128016" cy="1097280"/>
          </a:xfrm>
          <a:prstGeom prst="rect">
            <a:avLst/>
          </a:prstGeom>
          <a:solidFill>
            <a:srgbClr val="4C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13308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E3A2E"/>
                </a:solidFill>
                <a:latin typeface="微软雅黑"/>
              </a:rPr>
              <a:t>需求 · 原型 · 架构图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5720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7D72"/>
                </a:solidFill>
                <a:latin typeface="微软雅黑"/>
              </a:rPr>
              <a:t>需求清单 · 思维导图 · 功能/技术架构图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4023360"/>
            <a:ext cx="3566160" cy="1097280"/>
          </a:xfrm>
          <a:prstGeom prst="rect">
            <a:avLst/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023360"/>
            <a:ext cx="128016" cy="1097280"/>
          </a:xfrm>
          <a:prstGeom prst="rect">
            <a:avLst/>
          </a:prstGeom>
          <a:solidFill>
            <a:srgbClr val="4C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13308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E3A2E"/>
                </a:solidFill>
                <a:latin typeface="微软雅黑"/>
              </a:rPr>
              <a:t>部署 · 测试 · 交付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5720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7D72"/>
                </a:solidFill>
                <a:latin typeface="微软雅黑"/>
              </a:rPr>
              <a:t>部署文档 · 发布包 · 联调回归 · PPT/视频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AAAAA"/>
                </a:solidFill>
                <a:latin typeface="微软雅黑"/>
              </a:rPr>
              <a:t>智慧光棚 · 设施农业光环境闭环管控平台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1">
                <a:solidFill>
                  <a:srgbClr val="FFFFFF"/>
                </a:solidFill>
                <a:latin typeface="微软雅黑"/>
              </a:rP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9966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CFE0D4"/>
                </a:solidFill>
                <a:latin typeface="微软雅黑"/>
              </a:rPr>
              <a:t>已完成：光环境闭环 · 空间光场 3D · 重庆日型仿真 · 角色分权工单审计 · 部署文档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9966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CFE0D4"/>
                </a:solidFill>
                <a:latin typeface="微软雅黑"/>
              </a:rPr>
              <a:t>下一步：真机一路（RS-GZ / BH1750）· VPD/EC 多传感门控 · 冠层均匀度告警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572000"/>
            <a:ext cx="9966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CFE0D4"/>
                </a:solidFill>
                <a:latin typeface="微软雅黑"/>
              </a:rPr>
              <a:t>感谢聆听，欢迎提问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